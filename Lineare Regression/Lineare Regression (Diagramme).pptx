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Y-Werte</c:v>
                </c:pt>
              </c:strCache>
            </c:strRef>
          </c:tx>
          <c:spPr>
            <a:solidFill>
              <a:srgbClr val="ffffff"/>
            </a:solidFill>
            <a:ln w="28440">
              <a:noFill/>
            </a:ln>
          </c:spPr>
          <c:marker>
            <c:symbol val="circle"/>
            <c:size val="5"/>
            <c:spPr>
              <a:solidFill>
                <a:srgbClr val="ffffff"/>
              </a:solidFill>
            </c:spPr>
          </c:marker>
          <c:dLbls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28440">
                  <a:noFill/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6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6"/>
                <c:pt idx="5">
                  <c:v>50</c:v>
                </c:pt>
              </c:numCache>
            </c:numRef>
          </c:yVal>
          <c:smooth val="0"/>
        </c:ser>
        <c:axId val="66774346"/>
        <c:axId val="838600"/>
      </c:scatterChart>
      <c:valAx>
        <c:axId val="66774346"/>
        <c:scaling>
          <c:orientation val="minMax"/>
          <c:max val="26"/>
          <c:min val="0"/>
        </c:scaling>
        <c:delete val="0"/>
        <c:axPos val="b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title>
          <c:tx>
            <c:rich>
              <a:bodyPr rot="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lang="de-CH" sz="1330" strike="noStrike" u="none">
                    <a:solidFill>
                      <a:srgbClr val="595959"/>
                    </a:solidFill>
                    <a:uFillTx/>
                    <a:latin typeface="Arial"/>
                  </a:rPr>
                  <a:t>Marketingausgaben [</a:t>
                </a:r>
                <a:r>
                  <a:rPr b="0" lang="de-CH" sz="1330" strike="noStrike" u="none">
                    <a:solidFill>
                      <a:srgbClr val="595959"/>
                    </a:solidFill>
                    <a:uFillTx/>
                    <a:latin typeface="Arial"/>
                  </a:rPr>
                  <a:t>Tsd</a:t>
                </a:r>
                <a:r>
                  <a:rPr b="0" lang="de-CH" sz="1330" strike="noStrike" u="none">
                    <a:solidFill>
                      <a:srgbClr val="595959"/>
                    </a:solidFill>
                    <a:uFillTx/>
                    <a:latin typeface="Arial"/>
                  </a:rPr>
                  <a:t> CHF]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out"/>
        <c:tickLblPos val="nextTo"/>
        <c:spPr>
          <a:ln w="9360">
            <a:solidFill>
              <a:srgbClr val="bfbfbf"/>
            </a:solidFill>
            <a:round/>
          </a:ln>
        </c:spPr>
        <c:txPr>
          <a:bodyPr/>
          <a:lstStyle/>
          <a:p>
            <a:pPr>
              <a:defRPr b="0" sz="1197" strike="noStrike" u="none">
                <a:solidFill>
                  <a:srgbClr val="595959"/>
                </a:solidFill>
                <a:uFillTx/>
                <a:latin typeface="Arial"/>
              </a:defRPr>
            </a:pPr>
          </a:p>
        </c:txPr>
        <c:crossAx val="838600"/>
        <c:crosses val="autoZero"/>
        <c:crossBetween val="midCat"/>
        <c:majorUnit val="2"/>
        <c:minorUnit val="1"/>
      </c:valAx>
      <c:valAx>
        <c:axId val="838600"/>
        <c:scaling>
          <c:orientation val="minMax"/>
          <c:max val="240"/>
          <c:min val="0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lang="de-CH" sz="1330" strike="noStrike" u="none">
                    <a:solidFill>
                      <a:srgbClr val="595959"/>
                    </a:solidFill>
                    <a:uFillTx/>
                    <a:latin typeface="Arial"/>
                  </a:rPr>
                  <a:t>Umsatz [</a:t>
                </a:r>
                <a:r>
                  <a:rPr b="0" lang="de-CH" sz="1330" strike="noStrike" u="none">
                    <a:solidFill>
                      <a:srgbClr val="595959"/>
                    </a:solidFill>
                    <a:uFillTx/>
                    <a:latin typeface="Arial"/>
                  </a:rPr>
                  <a:t>Tsd</a:t>
                </a:r>
                <a:r>
                  <a:rPr b="0" lang="de-CH" sz="1330" strike="noStrike" u="none">
                    <a:solidFill>
                      <a:srgbClr val="595959"/>
                    </a:solidFill>
                    <a:uFillTx/>
                    <a:latin typeface="Arial"/>
                  </a:rPr>
                  <a:t> CHF]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out"/>
        <c:tickLblPos val="nextTo"/>
        <c:spPr>
          <a:ln w="9360">
            <a:solidFill>
              <a:srgbClr val="bfbfbf"/>
            </a:solidFill>
            <a:round/>
          </a:ln>
        </c:spPr>
        <c:txPr>
          <a:bodyPr/>
          <a:lstStyle/>
          <a:p>
            <a:pPr>
              <a:defRPr b="0" sz="1197" strike="noStrike" u="none">
                <a:solidFill>
                  <a:srgbClr val="595959"/>
                </a:solidFill>
                <a:uFillTx/>
                <a:latin typeface="Arial"/>
              </a:defRPr>
            </a:pPr>
          </a:p>
        </c:txPr>
        <c:crossAx val="66774346"/>
        <c:crosses val="autoZero"/>
        <c:crossBetween val="midCat"/>
        <c:majorUnit val="20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Y-Werte</c:v>
                </c:pt>
              </c:strCache>
            </c:strRef>
          </c:tx>
          <c:spPr>
            <a:solidFill>
              <a:srgbClr val="ffffff"/>
            </a:solidFill>
            <a:ln w="28440">
              <a:noFill/>
            </a:ln>
          </c:spPr>
          <c:marker>
            <c:symbol val="circle"/>
            <c:size val="5"/>
            <c:spPr>
              <a:noFill/>
            </c:spPr>
          </c:marker>
          <c:dLbls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28440">
                  <a:noFill/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6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6"/>
                <c:pt idx="5">
                  <c:v>50</c:v>
                </c:pt>
              </c:numCache>
            </c:numRef>
          </c:yVal>
          <c:smooth val="0"/>
        </c:ser>
        <c:axId val="34337858"/>
        <c:axId val="79272515"/>
      </c:scatterChart>
      <c:valAx>
        <c:axId val="34337858"/>
        <c:scaling>
          <c:orientation val="minMax"/>
          <c:max val="60"/>
          <c:min val="10"/>
        </c:scaling>
        <c:delete val="0"/>
        <c:axPos val="b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title>
          <c:tx>
            <c:rich>
              <a:bodyPr rot="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lang="de-CH" sz="1330" strike="noStrike" u="none">
                    <a:solidFill>
                      <a:srgbClr val="595959"/>
                    </a:solidFill>
                    <a:uFillTx/>
                    <a:latin typeface="Arial"/>
                  </a:rPr>
                  <a:t>Marketingausgaben [</a:t>
                </a:r>
                <a:r>
                  <a:rPr b="0" lang="de-CH" sz="1330" strike="noStrike" u="none">
                    <a:solidFill>
                      <a:srgbClr val="595959"/>
                    </a:solidFill>
                    <a:uFillTx/>
                    <a:latin typeface="Arial"/>
                  </a:rPr>
                  <a:t>Tsd</a:t>
                </a:r>
                <a:r>
                  <a:rPr b="0" lang="de-CH" sz="1330" strike="noStrike" u="none">
                    <a:solidFill>
                      <a:srgbClr val="595959"/>
                    </a:solidFill>
                    <a:uFillTx/>
                    <a:latin typeface="Arial"/>
                  </a:rPr>
                  <a:t> CHF]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out"/>
        <c:tickLblPos val="nextTo"/>
        <c:spPr>
          <a:ln w="9360">
            <a:solidFill>
              <a:srgbClr val="bfbfbf"/>
            </a:solidFill>
            <a:round/>
          </a:ln>
        </c:spPr>
        <c:txPr>
          <a:bodyPr/>
          <a:lstStyle/>
          <a:p>
            <a:pPr>
              <a:defRPr b="0" sz="1197" strike="noStrike" u="none">
                <a:solidFill>
                  <a:srgbClr val="595959"/>
                </a:solidFill>
                <a:uFillTx/>
                <a:latin typeface="Arial"/>
              </a:defRPr>
            </a:pPr>
          </a:p>
        </c:txPr>
        <c:crossAx val="79272515"/>
        <c:crossesAt val="0"/>
        <c:crossBetween val="midCat"/>
        <c:majorUnit val="10"/>
        <c:minorUnit val="5"/>
      </c:valAx>
      <c:valAx>
        <c:axId val="79272515"/>
        <c:scaling>
          <c:orientation val="minMax"/>
          <c:max val="180"/>
          <c:min val="100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lang="de-CH" sz="1330" strike="noStrike" u="none">
                    <a:solidFill>
                      <a:srgbClr val="595959"/>
                    </a:solidFill>
                    <a:uFillTx/>
                    <a:latin typeface="Arial"/>
                  </a:rPr>
                  <a:t>Umsatz [</a:t>
                </a:r>
                <a:r>
                  <a:rPr b="0" lang="de-CH" sz="1330" strike="noStrike" u="none">
                    <a:solidFill>
                      <a:srgbClr val="595959"/>
                    </a:solidFill>
                    <a:uFillTx/>
                    <a:latin typeface="Arial"/>
                  </a:rPr>
                  <a:t>Tsd</a:t>
                </a:r>
                <a:r>
                  <a:rPr b="0" lang="de-CH" sz="1330" strike="noStrike" u="none">
                    <a:solidFill>
                      <a:srgbClr val="595959"/>
                    </a:solidFill>
                    <a:uFillTx/>
                    <a:latin typeface="Arial"/>
                  </a:rPr>
                  <a:t> CHF]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out"/>
        <c:tickLblPos val="nextTo"/>
        <c:spPr>
          <a:ln w="9360">
            <a:solidFill>
              <a:srgbClr val="bfbfbf"/>
            </a:solidFill>
            <a:round/>
          </a:ln>
        </c:spPr>
        <c:txPr>
          <a:bodyPr/>
          <a:lstStyle/>
          <a:p>
            <a:pPr>
              <a:defRPr b="0" sz="1197" strike="noStrike" u="none">
                <a:solidFill>
                  <a:srgbClr val="595959"/>
                </a:solidFill>
                <a:uFillTx/>
                <a:latin typeface="Arial"/>
              </a:defRPr>
            </a:pPr>
          </a:p>
        </c:txPr>
        <c:crossAx val="34337858"/>
        <c:crosses val="autoZero"/>
        <c:crossBetween val="midCat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2" descr="Logo ohne Linie (farbigRGB)"/>
          <p:cNvPicPr/>
          <p:nvPr/>
        </p:nvPicPr>
        <p:blipFill>
          <a:blip r:embed="rId2"/>
          <a:stretch/>
        </p:blipFill>
        <p:spPr>
          <a:xfrm>
            <a:off x="5067360" y="237960"/>
            <a:ext cx="2485800" cy="49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Text Box 3"/>
          <p:cNvSpPr/>
          <p:nvPr/>
        </p:nvSpPr>
        <p:spPr>
          <a:xfrm>
            <a:off x="5649840" y="704880"/>
            <a:ext cx="2835000" cy="418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Die AKAD für Handel und Berufsmaturität.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0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Effizient. Sicher. Individuell.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Line 4"/>
          <p:cNvSpPr/>
          <p:nvPr/>
        </p:nvSpPr>
        <p:spPr>
          <a:xfrm flipH="1">
            <a:off x="0" y="7236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Picture 5" descr="Logo_D"/>
          <p:cNvPicPr/>
          <p:nvPr/>
        </p:nvPicPr>
        <p:blipFill>
          <a:blip r:embed="rId3"/>
          <a:stretch/>
        </p:blipFill>
        <p:spPr>
          <a:xfrm>
            <a:off x="5659560" y="6513480"/>
            <a:ext cx="1199880" cy="23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Text Box 6"/>
          <p:cNvSpPr/>
          <p:nvPr/>
        </p:nvSpPr>
        <p:spPr>
          <a:xfrm>
            <a:off x="4743360" y="6499080"/>
            <a:ext cx="1226880" cy="88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700"/>
              </a:lnSpc>
            </a:pPr>
            <a:r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Ein Unternehmen der</a:t>
            </a:r>
            <a:endParaRPr b="0" lang="de-CH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Line 7"/>
          <p:cNvSpPr/>
          <p:nvPr/>
        </p:nvSpPr>
        <p:spPr>
          <a:xfrm flipH="1">
            <a:off x="0" y="64008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Text Box 10"/>
          <p:cNvSpPr/>
          <p:nvPr/>
        </p:nvSpPr>
        <p:spPr>
          <a:xfrm>
            <a:off x="609480" y="704880"/>
            <a:ext cx="2835000" cy="279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AARAU BASEL BERN LUZERN ZÜRICH</a:t>
            </a:r>
            <a:endParaRPr b="0" lang="de-CH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de-DE" sz="2800" strike="noStrike" u="none">
                <a:solidFill>
                  <a:schemeClr val="dk2"/>
                </a:solidFill>
                <a:effectLst/>
                <a:uFillTx/>
                <a:latin typeface="Seaford"/>
              </a:rPr>
              <a:t>Titelmasterformat durch Klicken bearbeiten</a:t>
            </a:r>
            <a:endParaRPr b="0" lang="de-CH" sz="2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Logo ohne Linie (farbigRGB)"/>
          <p:cNvPicPr/>
          <p:nvPr/>
        </p:nvPicPr>
        <p:blipFill>
          <a:blip r:embed="rId2"/>
          <a:stretch/>
        </p:blipFill>
        <p:spPr>
          <a:xfrm>
            <a:off x="5067360" y="237960"/>
            <a:ext cx="2485800" cy="49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Text Box 3"/>
          <p:cNvSpPr/>
          <p:nvPr/>
        </p:nvSpPr>
        <p:spPr>
          <a:xfrm>
            <a:off x="5649840" y="704880"/>
            <a:ext cx="2835000" cy="418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Die AKAD für Handel und Berufsmaturität.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0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Effizient. Sicher. Individuell.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Line 4"/>
          <p:cNvSpPr/>
          <p:nvPr/>
        </p:nvSpPr>
        <p:spPr>
          <a:xfrm flipH="1">
            <a:off x="0" y="7236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1" name="Picture 5" descr="Logo_D"/>
          <p:cNvPicPr/>
          <p:nvPr/>
        </p:nvPicPr>
        <p:blipFill>
          <a:blip r:embed="rId3"/>
          <a:stretch/>
        </p:blipFill>
        <p:spPr>
          <a:xfrm>
            <a:off x="5659560" y="6513480"/>
            <a:ext cx="1199880" cy="23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Box 6"/>
          <p:cNvSpPr/>
          <p:nvPr/>
        </p:nvSpPr>
        <p:spPr>
          <a:xfrm>
            <a:off x="4743360" y="6499080"/>
            <a:ext cx="1226880" cy="88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700"/>
              </a:lnSpc>
            </a:pPr>
            <a:r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Ein Unternehmen der</a:t>
            </a:r>
            <a:endParaRPr b="0" lang="de-CH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Line 7"/>
          <p:cNvSpPr/>
          <p:nvPr/>
        </p:nvSpPr>
        <p:spPr>
          <a:xfrm flipH="1">
            <a:off x="0" y="64008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Text Box 10"/>
          <p:cNvSpPr/>
          <p:nvPr/>
        </p:nvSpPr>
        <p:spPr>
          <a:xfrm>
            <a:off x="609480" y="704880"/>
            <a:ext cx="2835000" cy="279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AARAU BASEL BERN LUZERN ZÜRICH</a:t>
            </a:r>
            <a:endParaRPr b="0" lang="de-CH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11280" y="1341360"/>
            <a:ext cx="7848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de-DE" sz="2800" strike="noStrike" u="none">
                <a:solidFill>
                  <a:schemeClr val="dk2"/>
                </a:solidFill>
                <a:effectLst/>
                <a:uFillTx/>
                <a:latin typeface="Seaford"/>
              </a:rPr>
              <a:t>Titelmasterformat durch Klicken bearbeiten</a:t>
            </a:r>
            <a:endParaRPr b="0" lang="de-CH" sz="2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989000"/>
            <a:ext cx="7848360" cy="4106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190440" indent="-1904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de-DE" sz="26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Textmasterformate durch Klicken bearbeiten</a:t>
            </a:r>
            <a:endParaRPr b="0" lang="de-CH" sz="26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1" marL="57168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Zweite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2" marL="95256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Dritte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3" marL="133344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Vierte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4" marL="171468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Fünfte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Logo ohne Linie (farbigRGB)"/>
          <p:cNvPicPr/>
          <p:nvPr/>
        </p:nvPicPr>
        <p:blipFill>
          <a:blip r:embed="rId2"/>
          <a:stretch/>
        </p:blipFill>
        <p:spPr>
          <a:xfrm>
            <a:off x="5067360" y="237960"/>
            <a:ext cx="2485800" cy="49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Box 3"/>
          <p:cNvSpPr/>
          <p:nvPr/>
        </p:nvSpPr>
        <p:spPr>
          <a:xfrm>
            <a:off x="5649840" y="704880"/>
            <a:ext cx="2835000" cy="418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Die AKAD für Handel und Berufsmaturität.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0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Effizient. Sicher. Individuell.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Line 4"/>
          <p:cNvSpPr/>
          <p:nvPr/>
        </p:nvSpPr>
        <p:spPr>
          <a:xfrm flipH="1">
            <a:off x="0" y="7236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0" name="Picture 5" descr="Logo_D"/>
          <p:cNvPicPr/>
          <p:nvPr/>
        </p:nvPicPr>
        <p:blipFill>
          <a:blip r:embed="rId3"/>
          <a:stretch/>
        </p:blipFill>
        <p:spPr>
          <a:xfrm>
            <a:off x="5659560" y="6513480"/>
            <a:ext cx="1199880" cy="23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Box 6"/>
          <p:cNvSpPr/>
          <p:nvPr/>
        </p:nvSpPr>
        <p:spPr>
          <a:xfrm>
            <a:off x="4743360" y="6499080"/>
            <a:ext cx="1226880" cy="88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700"/>
              </a:lnSpc>
            </a:pPr>
            <a:r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Ein Unternehmen der</a:t>
            </a:r>
            <a:endParaRPr b="0" lang="de-CH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Line 7"/>
          <p:cNvSpPr/>
          <p:nvPr/>
        </p:nvSpPr>
        <p:spPr>
          <a:xfrm flipH="1">
            <a:off x="0" y="64008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Text Box 10"/>
          <p:cNvSpPr/>
          <p:nvPr/>
        </p:nvSpPr>
        <p:spPr>
          <a:xfrm>
            <a:off x="609480" y="704880"/>
            <a:ext cx="2835000" cy="279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AARAU BASEL BERN LUZERN ZÜRICH</a:t>
            </a:r>
            <a:endParaRPr b="0" lang="de-CH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497640" y="1341360"/>
            <a:ext cx="1961640" cy="4754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 vert="eaVer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de-DE" sz="2800" strike="noStrike" u="none">
                <a:solidFill>
                  <a:schemeClr val="dk2"/>
                </a:solidFill>
                <a:effectLst/>
                <a:uFillTx/>
                <a:latin typeface="Seaford"/>
              </a:rPr>
              <a:t>Titelmasterformat durch Klicken bearbeiten</a:t>
            </a:r>
            <a:endParaRPr b="0" lang="de-CH" sz="2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341360"/>
            <a:ext cx="5735160" cy="4754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190440" indent="-1904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de-DE" sz="26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Textmasterformate durch Klicken bearbeiten</a:t>
            </a:r>
            <a:endParaRPr b="0" lang="de-CH" sz="26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1" marL="57168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Zweite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2" marL="95256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Dritte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3" marL="133344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Vierte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4" marL="171468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Fünfte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 descr="Logo ohne Linie (farbigRGB)"/>
          <p:cNvPicPr/>
          <p:nvPr/>
        </p:nvPicPr>
        <p:blipFill>
          <a:blip r:embed="rId2"/>
          <a:stretch/>
        </p:blipFill>
        <p:spPr>
          <a:xfrm>
            <a:off x="5067360" y="237960"/>
            <a:ext cx="2485800" cy="49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Box 3"/>
          <p:cNvSpPr/>
          <p:nvPr/>
        </p:nvSpPr>
        <p:spPr>
          <a:xfrm>
            <a:off x="5649840" y="704880"/>
            <a:ext cx="2835000" cy="418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Die AKAD für Handel und Berufsmaturität.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0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Effizient. Sicher. Individuell.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Line 4"/>
          <p:cNvSpPr/>
          <p:nvPr/>
        </p:nvSpPr>
        <p:spPr>
          <a:xfrm flipH="1">
            <a:off x="0" y="7236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9" name="Picture 5" descr="Logo_D"/>
          <p:cNvPicPr/>
          <p:nvPr/>
        </p:nvPicPr>
        <p:blipFill>
          <a:blip r:embed="rId3"/>
          <a:stretch/>
        </p:blipFill>
        <p:spPr>
          <a:xfrm>
            <a:off x="5659560" y="6513480"/>
            <a:ext cx="1199880" cy="23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Box 6"/>
          <p:cNvSpPr/>
          <p:nvPr/>
        </p:nvSpPr>
        <p:spPr>
          <a:xfrm>
            <a:off x="4743360" y="6499080"/>
            <a:ext cx="1226880" cy="88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700"/>
              </a:lnSpc>
            </a:pPr>
            <a:r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Ein Unternehmen der</a:t>
            </a:r>
            <a:endParaRPr b="0" lang="de-CH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Line 7"/>
          <p:cNvSpPr/>
          <p:nvPr/>
        </p:nvSpPr>
        <p:spPr>
          <a:xfrm flipH="1">
            <a:off x="0" y="64008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Text Box 10"/>
          <p:cNvSpPr/>
          <p:nvPr/>
        </p:nvSpPr>
        <p:spPr>
          <a:xfrm>
            <a:off x="609480" y="704880"/>
            <a:ext cx="2835000" cy="279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AARAU BASEL BERN LUZERN ZÜRICH</a:t>
            </a:r>
            <a:endParaRPr b="0" lang="de-CH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11280" y="1341360"/>
            <a:ext cx="7848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de-DE" sz="2800" strike="noStrike" u="none">
                <a:solidFill>
                  <a:schemeClr val="dk2"/>
                </a:solidFill>
                <a:effectLst/>
                <a:uFillTx/>
                <a:latin typeface="Seaford"/>
              </a:rPr>
              <a:t>Titelmasterformat durch Klicken bearbeiten</a:t>
            </a:r>
            <a:endParaRPr b="0" lang="de-CH" sz="2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989000"/>
            <a:ext cx="7848360" cy="4106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190440" indent="-19044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de-DE" sz="26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Textmasterformate durch Klicken bearbeiten</a:t>
            </a:r>
            <a:endParaRPr b="0" lang="de-CH" sz="26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1" marL="57168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Zweite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2" marL="95256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Dritte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3" marL="133344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Vierte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4" marL="171468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Fünfte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überschrif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Logo ohne Linie (farbigRGB)"/>
          <p:cNvPicPr/>
          <p:nvPr/>
        </p:nvPicPr>
        <p:blipFill>
          <a:blip r:embed="rId2"/>
          <a:stretch/>
        </p:blipFill>
        <p:spPr>
          <a:xfrm>
            <a:off x="5067360" y="237960"/>
            <a:ext cx="2485800" cy="49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Box 3"/>
          <p:cNvSpPr/>
          <p:nvPr/>
        </p:nvSpPr>
        <p:spPr>
          <a:xfrm>
            <a:off x="5649840" y="704880"/>
            <a:ext cx="2835000" cy="418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Die AKAD für Handel und Berufsmaturität.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0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Effizient. Sicher. Individuell.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Line 4"/>
          <p:cNvSpPr/>
          <p:nvPr/>
        </p:nvSpPr>
        <p:spPr>
          <a:xfrm flipH="1">
            <a:off x="0" y="7236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8" name="Picture 5" descr="Logo_D"/>
          <p:cNvPicPr/>
          <p:nvPr/>
        </p:nvPicPr>
        <p:blipFill>
          <a:blip r:embed="rId3"/>
          <a:stretch/>
        </p:blipFill>
        <p:spPr>
          <a:xfrm>
            <a:off x="5659560" y="6513480"/>
            <a:ext cx="1199880" cy="23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Box 6"/>
          <p:cNvSpPr/>
          <p:nvPr/>
        </p:nvSpPr>
        <p:spPr>
          <a:xfrm>
            <a:off x="4743360" y="6499080"/>
            <a:ext cx="1226880" cy="88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700"/>
              </a:lnSpc>
            </a:pPr>
            <a:r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Ein Unternehmen der</a:t>
            </a:r>
            <a:endParaRPr b="0" lang="de-CH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Line 7"/>
          <p:cNvSpPr/>
          <p:nvPr/>
        </p:nvSpPr>
        <p:spPr>
          <a:xfrm flipH="1">
            <a:off x="0" y="64008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Text Box 10"/>
          <p:cNvSpPr/>
          <p:nvPr/>
        </p:nvSpPr>
        <p:spPr>
          <a:xfrm>
            <a:off x="609480" y="704880"/>
            <a:ext cx="2835000" cy="279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AARAU BASEL BERN LUZERN ZÜRICH</a:t>
            </a:r>
            <a:endParaRPr b="0" lang="de-CH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de-DE" sz="4000" strike="noStrike" u="none" cap="all">
                <a:solidFill>
                  <a:schemeClr val="dk2"/>
                </a:solidFill>
                <a:effectLst/>
                <a:uFillTx/>
                <a:latin typeface="Seaford"/>
              </a:rPr>
              <a:t>Titelmasterformat durch Klicken bearbeiten</a:t>
            </a:r>
            <a:endParaRPr b="0" lang="de-CH" sz="40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Textmasterformate durch Klicken bearbeiten</a:t>
            </a:r>
            <a:endParaRPr b="0" lang="de-CH" sz="20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2" descr="Logo ohne Linie (farbigRGB)"/>
          <p:cNvPicPr/>
          <p:nvPr/>
        </p:nvPicPr>
        <p:blipFill>
          <a:blip r:embed="rId2"/>
          <a:stretch/>
        </p:blipFill>
        <p:spPr>
          <a:xfrm>
            <a:off x="5067360" y="237960"/>
            <a:ext cx="2485800" cy="49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Box 3"/>
          <p:cNvSpPr/>
          <p:nvPr/>
        </p:nvSpPr>
        <p:spPr>
          <a:xfrm>
            <a:off x="5649840" y="704880"/>
            <a:ext cx="2835000" cy="418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Die AKAD für Handel und Berufsmaturität.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0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Effizient. Sicher. Individuell.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Line 4"/>
          <p:cNvSpPr/>
          <p:nvPr/>
        </p:nvSpPr>
        <p:spPr>
          <a:xfrm flipH="1">
            <a:off x="0" y="7236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7" name="Picture 5" descr="Logo_D"/>
          <p:cNvPicPr/>
          <p:nvPr/>
        </p:nvPicPr>
        <p:blipFill>
          <a:blip r:embed="rId3"/>
          <a:stretch/>
        </p:blipFill>
        <p:spPr>
          <a:xfrm>
            <a:off x="5659560" y="6513480"/>
            <a:ext cx="1199880" cy="23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Box 6"/>
          <p:cNvSpPr/>
          <p:nvPr/>
        </p:nvSpPr>
        <p:spPr>
          <a:xfrm>
            <a:off x="4743360" y="6499080"/>
            <a:ext cx="1226880" cy="88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700"/>
              </a:lnSpc>
            </a:pPr>
            <a:r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Ein Unternehmen der</a:t>
            </a:r>
            <a:endParaRPr b="0" lang="de-CH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Line 7"/>
          <p:cNvSpPr/>
          <p:nvPr/>
        </p:nvSpPr>
        <p:spPr>
          <a:xfrm flipH="1">
            <a:off x="0" y="64008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Text Box 10"/>
          <p:cNvSpPr/>
          <p:nvPr/>
        </p:nvSpPr>
        <p:spPr>
          <a:xfrm>
            <a:off x="609480" y="704880"/>
            <a:ext cx="2835000" cy="279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AARAU BASEL BERN LUZERN ZÜRICH</a:t>
            </a:r>
            <a:endParaRPr b="0" lang="de-CH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11280" y="1341360"/>
            <a:ext cx="7848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de-DE" sz="2800" strike="noStrike" u="none">
                <a:solidFill>
                  <a:schemeClr val="dk2"/>
                </a:solidFill>
                <a:effectLst/>
                <a:uFillTx/>
                <a:latin typeface="Seaford"/>
              </a:rPr>
              <a:t>Titelmasterformat durch Klicken bearbeiten</a:t>
            </a:r>
            <a:endParaRPr b="0" lang="de-CH" sz="2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989000"/>
            <a:ext cx="3847680" cy="4106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190440" indent="-1904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Textmasterformate durch Klicken bearbeiten</a:t>
            </a:r>
            <a:endParaRPr b="0" lang="de-CH" sz="2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1" marL="571680" indent="-1904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Zweite Ebene</a:t>
            </a:r>
            <a:endParaRPr b="0" lang="de-CH" sz="24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2" marL="952560" indent="-1904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Dritte Ebene</a:t>
            </a:r>
            <a:endParaRPr b="0" lang="de-CH" sz="20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3" marL="133344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Vierte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4" marL="171468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Fünfte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10160" y="1989000"/>
            <a:ext cx="3847680" cy="4106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190440" indent="-1904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Textmasterformate durch Klicken bearbeiten</a:t>
            </a:r>
            <a:endParaRPr b="0" lang="de-CH" sz="2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1" marL="571680" indent="-1904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Zweite Ebene</a:t>
            </a:r>
            <a:endParaRPr b="0" lang="de-CH" sz="24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2" marL="952560" indent="-1904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Dritte Ebene</a:t>
            </a:r>
            <a:endParaRPr b="0" lang="de-CH" sz="20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3" marL="133344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Vierte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4" marL="171468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Fünfte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2" descr="Logo ohne Linie (farbigRGB)"/>
          <p:cNvPicPr/>
          <p:nvPr/>
        </p:nvPicPr>
        <p:blipFill>
          <a:blip r:embed="rId2"/>
          <a:stretch/>
        </p:blipFill>
        <p:spPr>
          <a:xfrm>
            <a:off x="5067360" y="237960"/>
            <a:ext cx="2485800" cy="49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Box 3"/>
          <p:cNvSpPr/>
          <p:nvPr/>
        </p:nvSpPr>
        <p:spPr>
          <a:xfrm>
            <a:off x="5649840" y="704880"/>
            <a:ext cx="2835000" cy="418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Die AKAD für Handel und Berufsmaturität.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0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Effizient. Sicher. Individuell.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Line 4"/>
          <p:cNvSpPr/>
          <p:nvPr/>
        </p:nvSpPr>
        <p:spPr>
          <a:xfrm flipH="1">
            <a:off x="0" y="7236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7" name="Picture 5" descr="Logo_D"/>
          <p:cNvPicPr/>
          <p:nvPr/>
        </p:nvPicPr>
        <p:blipFill>
          <a:blip r:embed="rId3"/>
          <a:stretch/>
        </p:blipFill>
        <p:spPr>
          <a:xfrm>
            <a:off x="5659560" y="6513480"/>
            <a:ext cx="1199880" cy="23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Box 6"/>
          <p:cNvSpPr/>
          <p:nvPr/>
        </p:nvSpPr>
        <p:spPr>
          <a:xfrm>
            <a:off x="4743360" y="6499080"/>
            <a:ext cx="1226880" cy="88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700"/>
              </a:lnSpc>
            </a:pPr>
            <a:r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Ein Unternehmen der</a:t>
            </a:r>
            <a:endParaRPr b="0" lang="de-CH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Line 7"/>
          <p:cNvSpPr/>
          <p:nvPr/>
        </p:nvSpPr>
        <p:spPr>
          <a:xfrm flipH="1">
            <a:off x="0" y="64008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Text Box 10"/>
          <p:cNvSpPr/>
          <p:nvPr/>
        </p:nvSpPr>
        <p:spPr>
          <a:xfrm>
            <a:off x="609480" y="704880"/>
            <a:ext cx="2835000" cy="279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AARAU BASEL BERN LUZERN ZÜRICH</a:t>
            </a:r>
            <a:endParaRPr b="0" lang="de-CH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de-DE" sz="2800" strike="noStrike" u="none">
                <a:solidFill>
                  <a:schemeClr val="dk2"/>
                </a:solidFill>
                <a:effectLst/>
                <a:uFillTx/>
                <a:latin typeface="Seaford"/>
              </a:rPr>
              <a:t>Titelmasterformat durch Klicken bearbeiten</a:t>
            </a:r>
            <a:endParaRPr b="0" lang="de-CH" sz="2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Textmasterformate durch Klicken bearbeiten</a:t>
            </a:r>
            <a:endParaRPr b="0" lang="de-CH" sz="24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190440" indent="-1904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Textmasterformate durch Klicken bearbeiten</a:t>
            </a:r>
            <a:endParaRPr b="0" lang="de-CH" sz="24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1" marL="571680" indent="-1904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Zweite Ebene</a:t>
            </a:r>
            <a:endParaRPr b="0" lang="de-CH" sz="20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2" marL="95256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Dritte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3" marL="1333440" indent="-1904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Vierte Ebene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4" marL="1714680" indent="-1904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Fünfte Ebene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Textmasterformate durch Klicken bearbeiten</a:t>
            </a:r>
            <a:endParaRPr b="0" lang="de-CH" sz="24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190440" indent="-1904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Textmasterformate durch Klicken bearbeiten</a:t>
            </a:r>
            <a:endParaRPr b="0" lang="de-CH" sz="24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1" marL="571680" indent="-1904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Zweite Ebene</a:t>
            </a:r>
            <a:endParaRPr b="0" lang="de-CH" sz="20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2" marL="952560" indent="-1904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Dritte Ebene</a:t>
            </a:r>
            <a:endParaRPr b="0" lang="de-CH" sz="1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3" marL="1333440" indent="-1904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Vierte Ebene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4" marL="1714680" indent="-1904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Fünfte Ebene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Logo ohne Linie (farbigRGB)"/>
          <p:cNvPicPr/>
          <p:nvPr/>
        </p:nvPicPr>
        <p:blipFill>
          <a:blip r:embed="rId2"/>
          <a:stretch/>
        </p:blipFill>
        <p:spPr>
          <a:xfrm>
            <a:off x="5067360" y="237960"/>
            <a:ext cx="2485800" cy="49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Box 3"/>
          <p:cNvSpPr/>
          <p:nvPr/>
        </p:nvSpPr>
        <p:spPr>
          <a:xfrm>
            <a:off x="5649840" y="704880"/>
            <a:ext cx="2835000" cy="418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Die AKAD für Handel und Berufsmaturität.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0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Effizient. Sicher. Individuell.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Line 4"/>
          <p:cNvSpPr/>
          <p:nvPr/>
        </p:nvSpPr>
        <p:spPr>
          <a:xfrm flipH="1">
            <a:off x="0" y="7236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9" name="Picture 5" descr="Logo_D"/>
          <p:cNvPicPr/>
          <p:nvPr/>
        </p:nvPicPr>
        <p:blipFill>
          <a:blip r:embed="rId3"/>
          <a:stretch/>
        </p:blipFill>
        <p:spPr>
          <a:xfrm>
            <a:off x="5659560" y="6513480"/>
            <a:ext cx="1199880" cy="23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Box 6"/>
          <p:cNvSpPr/>
          <p:nvPr/>
        </p:nvSpPr>
        <p:spPr>
          <a:xfrm>
            <a:off x="4743360" y="6499080"/>
            <a:ext cx="1226880" cy="88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700"/>
              </a:lnSpc>
            </a:pPr>
            <a:r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Ein Unternehmen der</a:t>
            </a:r>
            <a:endParaRPr b="0" lang="de-CH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Line 7"/>
          <p:cNvSpPr/>
          <p:nvPr/>
        </p:nvSpPr>
        <p:spPr>
          <a:xfrm flipH="1">
            <a:off x="0" y="64008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Text Box 10"/>
          <p:cNvSpPr/>
          <p:nvPr/>
        </p:nvSpPr>
        <p:spPr>
          <a:xfrm>
            <a:off x="609480" y="704880"/>
            <a:ext cx="2835000" cy="279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AARAU BASEL BERN LUZERN ZÜRICH</a:t>
            </a:r>
            <a:endParaRPr b="0" lang="de-CH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11280" y="1341360"/>
            <a:ext cx="7848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de-DE" sz="2800" strike="noStrike" u="none">
                <a:solidFill>
                  <a:schemeClr val="dk2"/>
                </a:solidFill>
                <a:effectLst/>
                <a:uFillTx/>
                <a:latin typeface="Seaford"/>
              </a:rPr>
              <a:t>Titelmasterformat durch Klicken bearbeiten</a:t>
            </a:r>
            <a:endParaRPr b="0" lang="de-CH" sz="2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 descr="Logo ohne Linie (farbigRGB)"/>
          <p:cNvPicPr/>
          <p:nvPr/>
        </p:nvPicPr>
        <p:blipFill>
          <a:blip r:embed="rId2"/>
          <a:stretch/>
        </p:blipFill>
        <p:spPr>
          <a:xfrm>
            <a:off x="5067360" y="237960"/>
            <a:ext cx="2485800" cy="49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Box 3"/>
          <p:cNvSpPr/>
          <p:nvPr/>
        </p:nvSpPr>
        <p:spPr>
          <a:xfrm>
            <a:off x="5649840" y="704880"/>
            <a:ext cx="2835000" cy="418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Die AKAD für Handel und Berufsmaturität.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0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Effizient. Sicher. Individuell.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Line 4"/>
          <p:cNvSpPr/>
          <p:nvPr/>
        </p:nvSpPr>
        <p:spPr>
          <a:xfrm flipH="1">
            <a:off x="0" y="7236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7" name="Picture 5" descr="Logo_D"/>
          <p:cNvPicPr/>
          <p:nvPr/>
        </p:nvPicPr>
        <p:blipFill>
          <a:blip r:embed="rId3"/>
          <a:stretch/>
        </p:blipFill>
        <p:spPr>
          <a:xfrm>
            <a:off x="5659560" y="6513480"/>
            <a:ext cx="1199880" cy="23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Box 6"/>
          <p:cNvSpPr/>
          <p:nvPr/>
        </p:nvSpPr>
        <p:spPr>
          <a:xfrm>
            <a:off x="4743360" y="6499080"/>
            <a:ext cx="1226880" cy="88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700"/>
              </a:lnSpc>
            </a:pPr>
            <a:r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Ein Unternehmen der</a:t>
            </a:r>
            <a:endParaRPr b="0" lang="de-CH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Line 7"/>
          <p:cNvSpPr/>
          <p:nvPr/>
        </p:nvSpPr>
        <p:spPr>
          <a:xfrm flipH="1">
            <a:off x="0" y="64008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Text Box 10"/>
          <p:cNvSpPr/>
          <p:nvPr/>
        </p:nvSpPr>
        <p:spPr>
          <a:xfrm>
            <a:off x="609480" y="704880"/>
            <a:ext cx="2835000" cy="279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AARAU BASEL BERN LUZERN ZÜRICH</a:t>
            </a:r>
            <a:endParaRPr b="0" lang="de-CH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 descr="Logo ohne Linie (farbigRGB)"/>
          <p:cNvPicPr/>
          <p:nvPr/>
        </p:nvPicPr>
        <p:blipFill>
          <a:blip r:embed="rId2"/>
          <a:stretch/>
        </p:blipFill>
        <p:spPr>
          <a:xfrm>
            <a:off x="5067360" y="237960"/>
            <a:ext cx="2485800" cy="49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Box 3"/>
          <p:cNvSpPr/>
          <p:nvPr/>
        </p:nvSpPr>
        <p:spPr>
          <a:xfrm>
            <a:off x="5649840" y="704880"/>
            <a:ext cx="2835000" cy="418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Die AKAD für Handel und Berufsmaturität.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0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Effizient. Sicher. Individuell.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Line 4"/>
          <p:cNvSpPr/>
          <p:nvPr/>
        </p:nvSpPr>
        <p:spPr>
          <a:xfrm flipH="1">
            <a:off x="0" y="7236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84" name="Picture 5" descr="Logo_D"/>
          <p:cNvPicPr/>
          <p:nvPr/>
        </p:nvPicPr>
        <p:blipFill>
          <a:blip r:embed="rId3"/>
          <a:stretch/>
        </p:blipFill>
        <p:spPr>
          <a:xfrm>
            <a:off x="5659560" y="6513480"/>
            <a:ext cx="1199880" cy="23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Box 6"/>
          <p:cNvSpPr/>
          <p:nvPr/>
        </p:nvSpPr>
        <p:spPr>
          <a:xfrm>
            <a:off x="4743360" y="6499080"/>
            <a:ext cx="1226880" cy="88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700"/>
              </a:lnSpc>
            </a:pPr>
            <a:r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Ein Unternehmen der</a:t>
            </a:r>
            <a:endParaRPr b="0" lang="de-CH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Line 7"/>
          <p:cNvSpPr/>
          <p:nvPr/>
        </p:nvSpPr>
        <p:spPr>
          <a:xfrm flipH="1">
            <a:off x="0" y="64008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Text Box 10"/>
          <p:cNvSpPr/>
          <p:nvPr/>
        </p:nvSpPr>
        <p:spPr>
          <a:xfrm>
            <a:off x="609480" y="704880"/>
            <a:ext cx="2835000" cy="279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AARAU BASEL BERN LUZERN ZÜRICH</a:t>
            </a:r>
            <a:endParaRPr b="0" lang="de-CH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de-DE" sz="2000" strike="noStrike" u="none">
                <a:solidFill>
                  <a:schemeClr val="dk2"/>
                </a:solidFill>
                <a:effectLst/>
                <a:uFillTx/>
                <a:latin typeface="Seaford"/>
              </a:rPr>
              <a:t>Titelmasterformat durch Klicken bearbeiten</a:t>
            </a:r>
            <a:endParaRPr b="0" lang="de-CH" sz="20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190440" indent="-1904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Textmasterformate durch Klicken bearbeiten</a:t>
            </a:r>
            <a:endParaRPr b="0" lang="de-CH" sz="32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1" marL="571680" indent="-1904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Zweite Ebene</a:t>
            </a:r>
            <a:endParaRPr b="0" lang="de-CH" sz="28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2" marL="952560" indent="-1904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Dritte Ebene</a:t>
            </a:r>
            <a:endParaRPr b="0" lang="de-CH" sz="24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3" marL="1333440" indent="-1904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Vierte Ebene</a:t>
            </a:r>
            <a:endParaRPr b="0" lang="de-CH" sz="20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4" marL="1714680" indent="-1904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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Fünfte Ebene</a:t>
            </a:r>
            <a:endParaRPr b="0" lang="de-CH" sz="20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Textmasterformate durch Klicken bearbeiten</a:t>
            </a:r>
            <a:endParaRPr b="0" lang="de-CH" sz="14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2" descr="Logo ohne Linie (farbigRGB)"/>
          <p:cNvPicPr/>
          <p:nvPr/>
        </p:nvPicPr>
        <p:blipFill>
          <a:blip r:embed="rId2"/>
          <a:stretch/>
        </p:blipFill>
        <p:spPr>
          <a:xfrm>
            <a:off x="5067360" y="237960"/>
            <a:ext cx="2485800" cy="49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Box 3"/>
          <p:cNvSpPr/>
          <p:nvPr/>
        </p:nvSpPr>
        <p:spPr>
          <a:xfrm>
            <a:off x="5649840" y="704880"/>
            <a:ext cx="2835000" cy="418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Die AKAD für Handel und Berufsmaturität.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0" lang="de-CH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Effizient. Sicher. Individuell.</a:t>
            </a: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Line 4"/>
          <p:cNvSpPr/>
          <p:nvPr/>
        </p:nvSpPr>
        <p:spPr>
          <a:xfrm flipH="1">
            <a:off x="0" y="7236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94" name="Picture 5" descr="Logo_D"/>
          <p:cNvPicPr/>
          <p:nvPr/>
        </p:nvPicPr>
        <p:blipFill>
          <a:blip r:embed="rId3"/>
          <a:stretch/>
        </p:blipFill>
        <p:spPr>
          <a:xfrm>
            <a:off x="5659560" y="6513480"/>
            <a:ext cx="1199880" cy="23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Box 6"/>
          <p:cNvSpPr/>
          <p:nvPr/>
        </p:nvSpPr>
        <p:spPr>
          <a:xfrm>
            <a:off x="4743360" y="6499080"/>
            <a:ext cx="1226880" cy="88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700"/>
              </a:lnSpc>
            </a:pPr>
            <a:r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Ein Unternehmen der</a:t>
            </a:r>
            <a:endParaRPr b="0" lang="de-CH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Line 7"/>
          <p:cNvSpPr/>
          <p:nvPr/>
        </p:nvSpPr>
        <p:spPr>
          <a:xfrm flipH="1">
            <a:off x="0" y="6400800"/>
            <a:ext cx="9144000" cy="360"/>
          </a:xfrm>
          <a:prstGeom prst="line">
            <a:avLst/>
          </a:prstGeom>
          <a:ln w="444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de-CH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Text Box 10"/>
          <p:cNvSpPr/>
          <p:nvPr/>
        </p:nvSpPr>
        <p:spPr>
          <a:xfrm>
            <a:off x="609480" y="704880"/>
            <a:ext cx="2835000" cy="279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00"/>
              </a:lnSpc>
            </a:pPr>
            <a:endParaRPr b="0" lang="de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00"/>
              </a:lnSpc>
            </a:pPr>
            <a:r>
              <a:rPr b="1" lang="de-CH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AARAU BASEL BERN LUZERN ZÜRICH</a:t>
            </a:r>
            <a:endParaRPr b="0" lang="de-CH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de-DE" sz="2000" strike="noStrike" u="none">
                <a:solidFill>
                  <a:schemeClr val="dk2"/>
                </a:solidFill>
                <a:effectLst/>
                <a:uFillTx/>
                <a:latin typeface="Seaford"/>
              </a:rPr>
              <a:t>Titelmasterformat durch Klicken bearbeiten</a:t>
            </a:r>
            <a:endParaRPr b="0" lang="de-CH" sz="20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32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Format des Gliederungstextes durch Klicken bearbeiten</a:t>
            </a:r>
            <a:endParaRPr b="0" lang="de-CH" sz="32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32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Zweite Gliederungsebene</a:t>
            </a:r>
            <a:endParaRPr b="0" lang="de-CH" sz="32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32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Dritte Gliederungsebene</a:t>
            </a:r>
            <a:endParaRPr b="0" lang="de-CH" sz="32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32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Vierte Gliederungsebene</a:t>
            </a:r>
            <a:endParaRPr b="0" lang="de-CH" sz="32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32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Fünfte Gliederungsebene</a:t>
            </a:r>
            <a:endParaRPr b="0" lang="de-CH" sz="32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32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Sechste Gliederungsebene</a:t>
            </a:r>
            <a:endParaRPr b="0" lang="de-CH" sz="32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32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Siebte Gliederungsebene</a:t>
            </a:r>
            <a:endParaRPr b="0" lang="de-CH" sz="32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Seaford"/>
              </a:rPr>
              <a:t>Textmasterformate durch Klicken bearbeiten</a:t>
            </a:r>
            <a:endParaRPr b="0" lang="de-CH" sz="1400" strike="noStrike" u="none">
              <a:solidFill>
                <a:schemeClr val="dk1"/>
              </a:solidFill>
              <a:effectLst/>
              <a:uFillTx/>
              <a:latin typeface="Seaford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11280" y="1341360"/>
            <a:ext cx="7848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de-CH" sz="2800" strike="noStrike" u="none">
                <a:solidFill>
                  <a:schemeClr val="dk2"/>
                </a:solidFill>
                <a:effectLst/>
                <a:uFillTx/>
                <a:latin typeface="Seaford"/>
              </a:rPr>
              <a:t>Streudiagramm (Erfolgskontrolle)</a:t>
            </a:r>
            <a:endParaRPr b="0" lang="de-CH" sz="2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02" name="Inhaltsplatzhalter 5"/>
          <p:cNvGraphicFramePr/>
          <p:nvPr/>
        </p:nvGraphicFramePr>
        <p:xfrm>
          <a:off x="609480" y="1989000"/>
          <a:ext cx="7848360" cy="4106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11280" y="1341360"/>
            <a:ext cx="7848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de-CH" sz="2800" strike="noStrike" u="none">
                <a:solidFill>
                  <a:schemeClr val="dk2"/>
                </a:solidFill>
                <a:effectLst/>
                <a:uFillTx/>
                <a:latin typeface="Seaford"/>
              </a:rPr>
              <a:t>Streudiagramm (Aufgabenblatt)</a:t>
            </a:r>
            <a:endParaRPr b="0" lang="de-CH" sz="2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04" name="Inhaltsplatzhalter 5"/>
          <p:cNvGraphicFramePr/>
          <p:nvPr/>
        </p:nvGraphicFramePr>
        <p:xfrm>
          <a:off x="609480" y="1989000"/>
          <a:ext cx="7848360" cy="4106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KAD_Vorlage">
  <a:themeElements>
    <a:clrScheme name="AKAD_Vorlag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KAD_Vorlag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AKAD_Vorlage</Template>
  <TotalTime>21</TotalTime>
  <Application>LibreOffice/25.2.5.1$Windows_X86_64 LibreOffice_project/484541f705153d4ff78284873b0153c3e5a280db</Application>
  <AppVersion>15.0000</AppVersion>
  <Words>28</Words>
  <Paragraphs>6</Paragraphs>
  <Company>Limania Schulen Aarau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2005-06-15T15:29:07Z</dcterms:created>
  <dc:creator>Limania</dc:creator>
  <dc:description/>
  <dc:language>de-CH</dc:language>
  <cp:lastModifiedBy/>
  <cp:lastPrinted>2021-10-16T14:30:12Z</cp:lastPrinted>
  <dcterms:modified xsi:type="dcterms:W3CDTF">2025-09-08T11:14:31Z</dcterms:modified>
  <cp:revision>336</cp:revision>
  <dc:subject/>
  <dc:title>1. Was?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Bildschirmpräsentation (4:3)</vt:lpwstr>
  </property>
  <property fmtid="{D5CDD505-2E9C-101B-9397-08002B2CF9AE}" pid="3" name="Slides">
    <vt:i4>2</vt:i4>
  </property>
</Properties>
</file>